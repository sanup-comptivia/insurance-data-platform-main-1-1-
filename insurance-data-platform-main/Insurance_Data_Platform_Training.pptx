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Insurance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C8C8"/>
                </a:solidFill>
              </a:rPr>
              <a:t>End-to-End Data Engineering on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6C8FF"/>
                </a:solidFill>
              </a:rPr>
              <a:t>Training Module: Big Data &amp; Databricks - Real-World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</a:rPr>
              <a:t>Comptivia  |  Medallion Architecture  |  PySpark  |  Delta Lake  |  Unity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1. What We're Building -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2. Architecture - Medallion Pattern (Bronze / Silver / 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94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3. Data Flow - End-to-End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4. Lines of Business - 5 Insurance LOBs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5. Data Sources - Public + Synthetic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6. Bronze Layer - Raw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7. Silver Layer - Cleansing &amp; Type 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43983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8. Gold Layer - Star Schema + Data Mart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8289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9. Workflow Orchestration - DAG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218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10. CI/CD - GitHub Actions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23232"/>
                </a:solidFill>
              </a:rPr>
              <a:t>11. Key Takeaways for Your Career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What We're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Production-grade insurance data platform on Databricks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100-200 GB of structured + semi-structured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5 Lines of Business: Property, WC, Auto, GL, Umbrella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Medallion Architecture: Bronze -&gt; Silver -&gt; 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Star Schema: 8 Dimensions + 3 Fact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Final output: mart_policy_360 (1 row per policy, 60+ columns)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~6,400 lines of PySpark/Python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•  CI/CD with GitHub Actions (lint + test + deploy)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7160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Databricks
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37160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PySpark
ETL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37744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Delta Lake
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37744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Unity Catalog
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38328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GitHub
Version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338328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GitHub Actions
CI/CD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38912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dbldatagen
Data 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438912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pytest
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Architecture: Medallion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103120" cy="2286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SOURCES
FEMA NFIP (JSON)
CAS Schedule P (CSV)
Kaggle (CSV)
Synthetic (dbldatagen)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2468880"/>
            <a:ext cx="54864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286000" cy="228600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BRONZE
Raw Landing Zone
All StringType
Schema-on-read
+metadata columns
_ingestion_timestamp
_source_file
_batch_id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60720" y="2468880"/>
            <a:ext cx="54864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2286000" cy="2286000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</a:rPr>
              <a:t>SILVER
Cleansed &amp; Typed
Type casting
Deduplication
snake_case
DQ validation
_is_valid
_dq_issues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61120" y="2468880"/>
            <a:ext cx="54864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0" y="1645920"/>
            <a:ext cx="2286000" cy="228600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</a:rPr>
              <a:t>GOLD
8 Dimensions
3 Fact Tables
Star Schema (3NF)
mart_policy_360
1 row per policy
60+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389120"/>
            <a:ext cx="11612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GOVERNANCE: Unity Catalog (insurance_catalog.bronze / .silver / .gold)  |  Delta Lake ACID  |  Data Quality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303520"/>
            <a:ext cx="1161288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3366"/>
                </a:solidFill>
              </a:rPr>
              <a:t>Key Learning: Each layer adds value. Bronze preserves raw data (audit trail). Silver applies business rules. Gold serves analytics. Never skip layers - each has a purpose!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Data Flow: End-to-End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286000" cy="6400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17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FEMA NFIP (JSON) | CAS Schedule P (CSV) | Synthetic Generator (all 5 LOBs)</a:t>
            </a:r>
          </a:p>
        </p:txBody>
      </p:sp>
      <p:sp>
        <p:nvSpPr>
          <p:cNvPr id="6" name="Down Arrow 5"/>
          <p:cNvSpPr/>
          <p:nvPr/>
        </p:nvSpPr>
        <p:spPr>
          <a:xfrm>
            <a:off x="1920240" y="2057400"/>
            <a:ext cx="274320" cy="32004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2286000" cy="64008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23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ingest_structured.py (CSV/Parquet) + ingest_semi_structured.py (JSON/XML) -&gt; Delta tables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063240"/>
            <a:ext cx="274320" cy="32004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2286000" cy="640080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3. 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29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5 LOB Transformers: Property | WC | Auto | GL | Umbrella (type cast, dedup, DQ check)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20240" y="4069080"/>
            <a:ext cx="274320" cy="32004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286000" cy="64008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434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8 Dimensions + 3 Facts + mart_policy_360 (star schema with MD5 surrogate keys)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920240" y="5074920"/>
            <a:ext cx="274320" cy="32004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394960"/>
            <a:ext cx="22860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CONSUMERS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4406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BI Dashboards (Power BI / Tableau) | SQL Analytics | Data Science /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5 Lines of Business (LOBs)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10972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05050"/>
                </a:solidFill>
              </a:rPr>
              <a:t>NAIC 04.0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Source: FEMA + Synthetic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Key fields:
building_value, flood_zone
construction_type, occupancy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10312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WORKERS'
COMP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05050"/>
                </a:solidFill>
              </a:rPr>
              <a:t>NAIC 16.0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Source: CAS + Synthetic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Key fields:
class_code, payroll
experience_mod, injury_count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05050"/>
                </a:solidFill>
              </a:rPr>
              <a:t>NAIC 19.4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Source: CAS +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Key fields:
vehicle_year, make, model
VIN, garage_state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210312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GENERAL
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05050"/>
                </a:solidFill>
              </a:rPr>
              <a:t>NAIC 17.0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Source: CAS + Synthetic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Key fields:
occurrence_limit, aggregate
business_type, claim_type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371600"/>
            <a:ext cx="2103120" cy="10972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UMBRELLA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05050"/>
                </a:solidFill>
              </a:rPr>
              <a:t>NAIC 17.3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Source: Synthetic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Key fields:
umbrella_limit, retention
underlying_policies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754880"/>
            <a:ext cx="116128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3366"/>
                </a:solidFill>
              </a:rPr>
              <a:t>Real-world insight: Umbrella insurance has no public dataset available. We generate it synthetically - a common scenario in data engineering where you supplement missing data 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Bronze Layer: Raw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91440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00"/>
                </a:solidFill>
              </a:rPr>
              <a:t>Purpose: Ingest raw data as-is with ZERO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•  All columns stored as StringType (preserve original fidelity)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•  Why? Source data has inconsistent formats, null representations like 'N/A'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•  Type conversion happens in Silver layer with explicit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•  PERMISSIVE mode: malformed records saved, not dropped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ingest_structured.py
CSV / Parquet -&gt; Delta
All-StringType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30352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ingest_semi_structured.py
JSON (multiLine) / XML (spark-xml)
explode() for nested arrays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303520" cy="1371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Metadata Columns Added:
_ingestion_timestamp  (when ingested)
_source_file  (original path - lineage)
_batch_id  (UUID - replay/audit)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Silver Layer: Cleansing &amp;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554480" cy="914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 Union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</a:rPr>
              <a:t>Combine CSV + JSON Bronze tables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1691640"/>
            <a:ext cx="18288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1371600"/>
            <a:ext cx="1554480" cy="9144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 Type 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3774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</a:rPr>
              <a:t>String -&gt; Date, Decimal, Integer, Boolean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80" y="1691640"/>
            <a:ext cx="18288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371600"/>
            <a:ext cx="155448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 Standardize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</a:rPr>
              <a:t>camelCase -&gt; snake_case (regex)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03520" y="1691640"/>
            <a:ext cx="18288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9240" y="1371600"/>
            <a:ext cx="155448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 Deduplicate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3774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</a:rPr>
              <a:t>ROW_NUMBER() PARTITION BY key ORDER BY timestamp DESC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95159" y="1691640"/>
            <a:ext cx="18288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79" y="1371600"/>
            <a:ext cx="1554480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 DQ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3774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</a:rPr>
              <a:t>not_null, positive, date_range, in_set (from YAML config)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1691640"/>
            <a:ext cx="18288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19" y="1371600"/>
            <a:ext cx="155448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 DQ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23774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</a:rPr>
              <a:t>Add _is_valid (Bool) + _dq_issues (Array&lt;String&gt;)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378440" y="1691640"/>
            <a:ext cx="18288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59" y="1371600"/>
            <a:ext cx="1554480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7. Write 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9" y="23774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C3C3C"/>
                </a:solidFill>
              </a:rPr>
              <a:t>Merge/overwrite to insurance_catalog.silver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</a:rPr>
              <a:t>5 LOB-Specific Transformers (each follows the same 7-step pattern):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97680"/>
            <a:ext cx="210312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PropertyTransformer
252 lines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297680"/>
            <a:ext cx="210312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WorkersCompTransformer
165 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297680"/>
            <a:ext cx="210312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AutoTransformer
167 lines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297680"/>
            <a:ext cx="210312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GeneralLiabilityTransformer
160 lines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297680"/>
            <a:ext cx="210312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UmbrellaTransformer
156 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Gold Layer: Star Schema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0" y="2743200"/>
            <a:ext cx="3017520" cy="182880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FACT TABLES
fact_premium
fact_claim_transaction
fact_policy_transaction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2860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dim_date
date_key
year, month, quarter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88720"/>
            <a:ext cx="22860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dim_line_of_business
lob_key
lob_code, naic_code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188720"/>
            <a:ext cx="22860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dim_coverage
coverage_key
coverage_name,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26080"/>
            <a:ext cx="22860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dim_insured
insured_key
name, type, ein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926080"/>
            <a:ext cx="22860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dim_agent
agent_key
agent_name, agency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663440"/>
            <a:ext cx="22860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dim_location
location_key
city, state, zip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846320"/>
            <a:ext cx="228600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dim_policy (HUB)
policy_key
FK: all 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663440"/>
            <a:ext cx="22860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dim_claim
claim_key
claim_id,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Data Mart: mart_policy_360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One row per policy_id  |  60+ columns  |  Denormalized wide table  |  Primary BI/Reporting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86000"/>
            <a:ext cx="2468880" cy="12801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Policy Core
policy_key, policy_id, effective_date
expiration_date, status, risk_tier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286000"/>
            <a:ext cx="2468880" cy="12801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Line of Business
lob_code, lob_name
naic_code,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286000"/>
            <a:ext cx="2468880" cy="12801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Insured
insured_name, type, ein
industry, employees,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2468880" cy="12801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
agent_name, agency
commission_tier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2286000"/>
            <a:ext cx="2468880" cy="12801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Location
city, state, zip
lat/long, flood_zone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840480"/>
            <a:ext cx="2468880" cy="128016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Premium Summary
written_premium, earned
net, commission, line_count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3840480"/>
            <a:ext cx="246888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Claims Summary
claims_count, open/closed
paid, reserved, loss_ratio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840480"/>
            <a:ext cx="2468880" cy="1280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LOB-Specific
property_*, auto_*
wc_*, gl_*, umb_*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840480"/>
            <a:ext cx="2468880" cy="12801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Derived
tenure_months
days_to_expiry, is_active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C3E50"/>
                </a:solidFill>
              </a:rPr>
              <a:t>Query: SELECT * FROM insurance_catalog.gold.mart_policy_360 WHERE policy_id = 'POL-12345'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Workflow Orchestration: 7-Task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554480" cy="11887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1. setup_catalog
00_setup_catalog.py
(600s)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65960" y="1645920"/>
            <a:ext cx="1554480" cy="11887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2. run_ingestion
01_run_ingestion.py
(7200s)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1188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1554480" cy="11887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3. transform_silver
04_run_silver.py
(3600s)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0352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49240" y="1645920"/>
            <a:ext cx="1554480" cy="118872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</a:rPr>
              <a:t>4. build_dimensions
05_build_gold_dims.py
(3600s)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95159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79" y="1645920"/>
            <a:ext cx="1554480" cy="118872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</a:rPr>
              <a:t>5. build_facts
06_build_gold_facts.py
(3600s)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80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19" y="1645920"/>
            <a:ext cx="1554480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6. build_mart
07_build_mart.py
(3600s)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37844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24159" y="1645920"/>
            <a:ext cx="155448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7. validate_mart
03_mart_validation.py
(1800s)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•  Schedule: Daily 2:00 AM ET (paused)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•  Cluster: Spark 14.3 LTS, 8x DS4_v2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•  Max concurrent: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</a:rPr>
              <a:t>•  Alerts: Email on 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474720"/>
            <a:ext cx="53035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C3E50"/>
                </a:solidFill>
              </a:rPr>
              <a:t>Alternative: One-Click Execution
run_all_pipeline.py (228 lines)
Runs all 8 steps sequentially
with progress tracking
Great for development &amp; testing!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CI/CD Pipeline: GitHub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1371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TRIGGER
Push to main/develop
or PR to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2011680" cy="13716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LINT (flake8)
PEP8 compliance
Max 120 chars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2011680" cy="1371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FORMAT (black)
Consistent formatting
Line length 120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 (pytest)
Unit tests
Schemas + Utils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645920"/>
            <a:ext cx="2011680" cy="13716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DEPLOY
Databricks CLI
Sync + Workflow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84632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13232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418320" y="21031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</a:rPr>
              <a:t>Required GitHub Secrets: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50292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C3E50"/>
                </a:solidFill>
              </a:rPr>
              <a:t>DATABRICKS_HOST = https://dbc-xxxx.cloud.databricks.com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206240"/>
            <a:ext cx="576072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C3E50"/>
                </a:solidFill>
              </a:rPr>
              <a:t>DATABRICKS_TOKEN = Personal Access Token (Settings &gt; Developer)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Key Concepts: Surrogate Keys &amp; Data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</a:rPr>
              <a:t>Surrogate Key Strategy (MD5)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C3E50"/>
                </a:solidFill>
              </a:rPr>
              <a:t>key = MD5(CONCAT(natural_key_columns))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✓  Deterministic: same input = same key (idempotent loads)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✓  Distributed-friendly: no central sequence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✓  Collision-resistant: 128-bit hash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✓  Consistent: reprocessing = identical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</a:rPr>
              <a:t>Data Quality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 check_not_null(['policy_id', 'name'])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 check_positive(['premium', 'coverage'])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 check_date_range('date', '1970', '2030')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 check_in_set('status', ['Open','Closed'])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 check_regex('id', r'^POL-\d+$')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 check_unique(['policy_id'])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23232"/>
                </a:solidFill>
              </a:rPr>
              <a:t>•  check_referential_integrity(fk, ref)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530352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Output: _is_valid (Bool) + _dq_issues (Array)
Bad records flagged, NOT dropped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Takeaways for Your Career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Medallion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Industry standard for lakehouse platforms. Bronze=raw, Silver=clean, Gold=analytics.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Delta 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11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ACID on data lakes: time-travel, schema evolution, MERGE. Makes lake into lakehouse.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Unity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51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3-level namespace (catalog.schema.table). Governance, lineage, access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39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Star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918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Fact tables (measures) + Dimension tables (context). Foundation of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PySpark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31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DataFrame API, window functions, explode(), joins, aggregations, UDFs.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Quality as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572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YAML-driven rules, _is_valid flags, preserve bad records for investigation.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79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CI/CD for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21207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Automated lint + test + deploy. Every change validated before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852159"/>
            <a:ext cx="27432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Synthetic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85215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</a:rPr>
              <a:t>Generate realistic test data at scale when real data is unavailable.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AA520"/>
                </a:solidFill>
              </a:rPr>
              <a:t>This project covers the complete data engineering lifecycle - from raw ingestion to production analytics!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6C8FF"/>
                </a:solidFill>
              </a:rPr>
              <a:t>Repository: github.com/kokulakrishnan-comptivia/insurance-data-platform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C8C8"/>
                </a:solidFill>
              </a:rPr>
              <a:t>Try it: Open run_all_pipeline.py in Databricks and click Run All!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</a:rPr>
              <a:t>Comptivia - Big Data &amp; Databricks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